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al Bold" charset="1" panose="020B0704020202020204"/>
      <p:regular r:id="rId22"/>
    </p:embeddedFont>
    <p:embeddedFont>
      <p:font typeface="Arial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1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.png" Type="http://schemas.openxmlformats.org/officeDocument/2006/relationships/image"/><Relationship Id="rId6" Target="../media/image13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3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0481587">
            <a:off x="12534618" y="2658288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4733043">
            <a:off x="-745754" y="5096946"/>
            <a:ext cx="5977714" cy="6835224"/>
          </a:xfrm>
          <a:custGeom>
            <a:avLst/>
            <a:gdLst/>
            <a:ahLst/>
            <a:cxnLst/>
            <a:rect r="r" b="b" t="t" l="l"/>
            <a:pathLst>
              <a:path h="6835224" w="5977714">
                <a:moveTo>
                  <a:pt x="0" y="6835224"/>
                </a:moveTo>
                <a:lnTo>
                  <a:pt x="5977714" y="6835224"/>
                </a:lnTo>
                <a:lnTo>
                  <a:pt x="5977714" y="0"/>
                </a:lnTo>
                <a:lnTo>
                  <a:pt x="0" y="0"/>
                </a:lnTo>
                <a:lnTo>
                  <a:pt x="0" y="683522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91891"/>
            <a:ext cx="3728944" cy="1273618"/>
          </a:xfrm>
          <a:custGeom>
            <a:avLst/>
            <a:gdLst/>
            <a:ahLst/>
            <a:cxnLst/>
            <a:rect r="r" b="b" t="t" l="l"/>
            <a:pathLst>
              <a:path h="1273618" w="3728944">
                <a:moveTo>
                  <a:pt x="0" y="0"/>
                </a:moveTo>
                <a:lnTo>
                  <a:pt x="3728944" y="0"/>
                </a:lnTo>
                <a:lnTo>
                  <a:pt x="3728944" y="1273618"/>
                </a:lnTo>
                <a:lnTo>
                  <a:pt x="0" y="1273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42850" y="378333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6115" y="2891399"/>
            <a:ext cx="16517743" cy="216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b="true" sz="6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AIRNEST</a:t>
            </a:r>
          </a:p>
          <a:p>
            <a:pPr algn="ctr">
              <a:lnSpc>
                <a:spcPts val="86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849348" y="6302958"/>
            <a:ext cx="4589304" cy="168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Bachelor's thesis</a:t>
            </a:r>
          </a:p>
          <a:p>
            <a:pPr algn="ctr">
              <a:lnSpc>
                <a:spcPts val="67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014940" y="7571901"/>
            <a:ext cx="4655820" cy="179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Candidate:</a:t>
            </a:r>
          </a:p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Tudor-Alexandru MATEI</a:t>
            </a:r>
          </a:p>
          <a:p>
            <a:pPr algn="ctr">
              <a:lnSpc>
                <a:spcPts val="476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76115" y="7571901"/>
            <a:ext cx="6214708" cy="179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Scientific coordinator: </a:t>
            </a:r>
          </a:p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Conf. dr. ing. Răzvan, Bogdan</a:t>
            </a:r>
          </a:p>
          <a:p>
            <a:pPr algn="ctr">
              <a:lnSpc>
                <a:spcPts val="476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883469" y="4156953"/>
            <a:ext cx="10572115" cy="168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IoT Indoor Air Monitoring Station</a:t>
            </a:r>
          </a:p>
          <a:p>
            <a:pPr algn="ctr">
              <a:lnSpc>
                <a:spcPts val="672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8773" y="8697534"/>
            <a:ext cx="4059922" cy="2221885"/>
          </a:xfrm>
          <a:custGeom>
            <a:avLst/>
            <a:gdLst/>
            <a:ahLst/>
            <a:cxnLst/>
            <a:rect r="r" b="b" t="t" l="l"/>
            <a:pathLst>
              <a:path h="2221885" w="4059922">
                <a:moveTo>
                  <a:pt x="0" y="0"/>
                </a:moveTo>
                <a:lnTo>
                  <a:pt x="4059922" y="0"/>
                </a:lnTo>
                <a:lnTo>
                  <a:pt x="4059922" y="2221885"/>
                </a:lnTo>
                <a:lnTo>
                  <a:pt x="0" y="222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-59064" y="4034807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27978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7" y="0"/>
                </a:lnTo>
                <a:lnTo>
                  <a:pt x="4208077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05688" y="2296017"/>
            <a:ext cx="11822290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project presented today shows a smart indoor air quality station product. It is mostly destined for residential use and it lets the user easily visualize the data. This project meets the following requirements: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83315" y="904875"/>
            <a:ext cx="8500148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4843" y="5048250"/>
            <a:ext cx="12418314" cy="434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reading, processing and display of sensor read values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storage  of read data in Cloud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 of data in Cloud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visualization through the website and mobile app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Predictions generated based on gathered and existing data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 of raw data and mobile app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637413" y="1854331"/>
            <a:ext cx="5057801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69349" y="-684324"/>
            <a:ext cx="4059922" cy="2221885"/>
          </a:xfrm>
          <a:custGeom>
            <a:avLst/>
            <a:gdLst/>
            <a:ahLst/>
            <a:cxnLst/>
            <a:rect r="r" b="b" t="t" l="l"/>
            <a:pathLst>
              <a:path h="2221885" w="4059922">
                <a:moveTo>
                  <a:pt x="0" y="0"/>
                </a:moveTo>
                <a:lnTo>
                  <a:pt x="4059922" y="0"/>
                </a:lnTo>
                <a:lnTo>
                  <a:pt x="4059922" y="2221885"/>
                </a:lnTo>
                <a:lnTo>
                  <a:pt x="0" y="222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56948" y="1537561"/>
            <a:ext cx="8974104" cy="8749439"/>
          </a:xfrm>
          <a:custGeom>
            <a:avLst/>
            <a:gdLst/>
            <a:ahLst/>
            <a:cxnLst/>
            <a:rect r="r" b="b" t="t" l="l"/>
            <a:pathLst>
              <a:path h="8749439" w="8974104">
                <a:moveTo>
                  <a:pt x="0" y="0"/>
                </a:moveTo>
                <a:lnTo>
                  <a:pt x="8974104" y="0"/>
                </a:lnTo>
                <a:lnTo>
                  <a:pt x="8974104" y="8749439"/>
                </a:lnTo>
                <a:lnTo>
                  <a:pt x="0" y="8749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3533" y="302794"/>
            <a:ext cx="6621481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 WORKS</a:t>
            </a:r>
          </a:p>
        </p:txBody>
      </p:sp>
      <p:sp>
        <p:nvSpPr>
          <p:cNvPr name="AutoShape 5" id="5"/>
          <p:cNvSpPr/>
          <p:nvPr/>
        </p:nvSpPr>
        <p:spPr>
          <a:xfrm>
            <a:off x="965548" y="1185443"/>
            <a:ext cx="5919178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true" flipV="true" rot="-10272529">
            <a:off x="-773012" y="3405289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6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60" y="0"/>
                </a:lnTo>
                <a:lnTo>
                  <a:pt x="7197160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9123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10481587">
            <a:off x="14274633" y="2978064"/>
            <a:ext cx="6864732" cy="7849486"/>
          </a:xfrm>
          <a:custGeom>
            <a:avLst/>
            <a:gdLst/>
            <a:ahLst/>
            <a:cxnLst/>
            <a:rect r="r" b="b" t="t" l="l"/>
            <a:pathLst>
              <a:path h="7849486" w="6864732">
                <a:moveTo>
                  <a:pt x="0" y="7849486"/>
                </a:moveTo>
                <a:lnTo>
                  <a:pt x="6864732" y="7849486"/>
                </a:lnTo>
                <a:lnTo>
                  <a:pt x="6864732" y="0"/>
                </a:lnTo>
                <a:lnTo>
                  <a:pt x="0" y="0"/>
                </a:lnTo>
                <a:lnTo>
                  <a:pt x="0" y="7849486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17439" y="-568204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2538" y="640449"/>
            <a:ext cx="8919572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AND SOLUTION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279940" y="1523098"/>
            <a:ext cx="7961449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257458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7" y="0"/>
                </a:lnTo>
                <a:lnTo>
                  <a:pt x="4208077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745468">
            <a:off x="-423383" y="4909934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80223" y="2640491"/>
            <a:ext cx="8889987" cy="5800717"/>
          </a:xfrm>
          <a:custGeom>
            <a:avLst/>
            <a:gdLst/>
            <a:ahLst/>
            <a:cxnLst/>
            <a:rect r="r" b="b" t="t" l="l"/>
            <a:pathLst>
              <a:path h="5800717" w="8889987">
                <a:moveTo>
                  <a:pt x="0" y="0"/>
                </a:moveTo>
                <a:lnTo>
                  <a:pt x="8889987" y="0"/>
                </a:lnTo>
                <a:lnTo>
                  <a:pt x="8889987" y="5800717"/>
                </a:lnTo>
                <a:lnTo>
                  <a:pt x="0" y="5800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715437"/>
            <a:ext cx="7675224" cy="159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2"/>
              </a:lnSpc>
            </a:pPr>
            <a:r>
              <a:rPr lang="en-US" b="true" sz="300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  <a:r>
              <a:rPr lang="en-US" sz="30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lack of affordable and modifiable product options for indoor air quality monitoring.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9484" y="4379735"/>
            <a:ext cx="7485680" cy="373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2"/>
              </a:lnSpc>
            </a:pPr>
            <a:r>
              <a:rPr lang="en-US" sz="300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Solution</a:t>
            </a:r>
            <a:r>
              <a:rPr lang="en-US" sz="30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=&gt; a product made after this project, which can be arranged in 3 parts:</a:t>
            </a:r>
          </a:p>
          <a:p>
            <a:pPr algn="l" marL="649633" indent="-324817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part, having a Raspberry Pi as base </a:t>
            </a:r>
          </a:p>
          <a:p>
            <a:pPr algn="l" marL="649633" indent="-324817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Website and mobile application (runs on android) </a:t>
            </a:r>
          </a:p>
          <a:p>
            <a:pPr algn="l" marL="649633" indent="-324817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storage for data (AWS are used)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569880" y="-1050305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60" y="8229600"/>
                </a:lnTo>
                <a:lnTo>
                  <a:pt x="7197160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11173" y="348599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279940" y="1523098"/>
            <a:ext cx="7961449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91892" y="1769125"/>
            <a:ext cx="15098993" cy="8080320"/>
          </a:xfrm>
          <a:custGeom>
            <a:avLst/>
            <a:gdLst/>
            <a:ahLst/>
            <a:cxnLst/>
            <a:rect r="r" b="b" t="t" l="l"/>
            <a:pathLst>
              <a:path h="8080320" w="15098993">
                <a:moveTo>
                  <a:pt x="0" y="0"/>
                </a:moveTo>
                <a:lnTo>
                  <a:pt x="15098993" y="0"/>
                </a:lnTo>
                <a:lnTo>
                  <a:pt x="15098993" y="8080321"/>
                </a:lnTo>
                <a:lnTo>
                  <a:pt x="0" y="8080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1079305" y="5922874"/>
            <a:ext cx="788040" cy="223517"/>
          </a:xfrm>
          <a:custGeom>
            <a:avLst/>
            <a:gdLst/>
            <a:ahLst/>
            <a:cxnLst/>
            <a:rect r="r" b="b" t="t" l="l"/>
            <a:pathLst>
              <a:path h="223517" w="788040">
                <a:moveTo>
                  <a:pt x="0" y="0"/>
                </a:moveTo>
                <a:lnTo>
                  <a:pt x="788041" y="0"/>
                </a:lnTo>
                <a:lnTo>
                  <a:pt x="788041" y="223517"/>
                </a:lnTo>
                <a:lnTo>
                  <a:pt x="0" y="2235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69091" y="488950"/>
            <a:ext cx="10641419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 ARCHITECTURE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716251">
            <a:off x="10905830" y="5544599"/>
            <a:ext cx="677016" cy="192026"/>
          </a:xfrm>
          <a:custGeom>
            <a:avLst/>
            <a:gdLst/>
            <a:ahLst/>
            <a:cxnLst/>
            <a:rect r="r" b="b" t="t" l="l"/>
            <a:pathLst>
              <a:path h="192026" w="677016">
                <a:moveTo>
                  <a:pt x="0" y="0"/>
                </a:moveTo>
                <a:lnTo>
                  <a:pt x="677016" y="0"/>
                </a:lnTo>
                <a:lnTo>
                  <a:pt x="677016" y="192026"/>
                </a:lnTo>
                <a:lnTo>
                  <a:pt x="0" y="1920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637983" y="-1215586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97434" y="-987628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94333" y="1788563"/>
            <a:ext cx="11420301" cy="8336820"/>
          </a:xfrm>
          <a:custGeom>
            <a:avLst/>
            <a:gdLst/>
            <a:ahLst/>
            <a:cxnLst/>
            <a:rect r="r" b="b" t="t" l="l"/>
            <a:pathLst>
              <a:path h="8336820" w="11420301">
                <a:moveTo>
                  <a:pt x="0" y="0"/>
                </a:moveTo>
                <a:lnTo>
                  <a:pt x="11420301" y="0"/>
                </a:lnTo>
                <a:lnTo>
                  <a:pt x="11420301" y="8336819"/>
                </a:lnTo>
                <a:lnTo>
                  <a:pt x="0" y="8336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2207" y="290276"/>
            <a:ext cx="10641419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ARCHITECTURE</a:t>
            </a:r>
          </a:p>
        </p:txBody>
      </p:sp>
      <p:sp>
        <p:nvSpPr>
          <p:cNvPr name="AutoShape 6" id="6"/>
          <p:cNvSpPr/>
          <p:nvPr/>
        </p:nvSpPr>
        <p:spPr>
          <a:xfrm>
            <a:off x="1588989" y="1153875"/>
            <a:ext cx="8933183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411846" y="414101"/>
            <a:ext cx="4009538" cy="1226447"/>
          </a:xfrm>
          <a:custGeom>
            <a:avLst/>
            <a:gdLst/>
            <a:ahLst/>
            <a:cxnLst/>
            <a:rect r="r" b="b" t="t" l="l"/>
            <a:pathLst>
              <a:path h="1226447" w="4009538">
                <a:moveTo>
                  <a:pt x="0" y="0"/>
                </a:moveTo>
                <a:lnTo>
                  <a:pt x="4009539" y="0"/>
                </a:lnTo>
                <a:lnTo>
                  <a:pt x="4009539" y="1226447"/>
                </a:lnTo>
                <a:lnTo>
                  <a:pt x="0" y="1226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69349" y="-684324"/>
            <a:ext cx="4059922" cy="2221885"/>
          </a:xfrm>
          <a:custGeom>
            <a:avLst/>
            <a:gdLst/>
            <a:ahLst/>
            <a:cxnLst/>
            <a:rect r="r" b="b" t="t" l="l"/>
            <a:pathLst>
              <a:path h="2221885" w="4059922">
                <a:moveTo>
                  <a:pt x="0" y="0"/>
                </a:moveTo>
                <a:lnTo>
                  <a:pt x="4059922" y="0"/>
                </a:lnTo>
                <a:lnTo>
                  <a:pt x="4059922" y="2221885"/>
                </a:lnTo>
                <a:lnTo>
                  <a:pt x="0" y="222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99" y="-359746"/>
            <a:ext cx="9881782" cy="10949343"/>
          </a:xfrm>
          <a:custGeom>
            <a:avLst/>
            <a:gdLst/>
            <a:ahLst/>
            <a:cxnLst/>
            <a:rect r="r" b="b" t="t" l="l"/>
            <a:pathLst>
              <a:path h="10949343" w="9881782">
                <a:moveTo>
                  <a:pt x="0" y="0"/>
                </a:moveTo>
                <a:lnTo>
                  <a:pt x="9881782" y="0"/>
                </a:lnTo>
                <a:lnTo>
                  <a:pt x="9881782" y="10949342"/>
                </a:lnTo>
                <a:lnTo>
                  <a:pt x="0" y="10949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258565" y="4089400"/>
            <a:ext cx="5630403" cy="194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ARCHITECTURE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-5400000">
            <a:off x="-4172555" y="-412227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1936273" y="5114925"/>
            <a:ext cx="4274988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1383479" y="6035675"/>
            <a:ext cx="5505489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173240" y="1028700"/>
            <a:ext cx="1862933" cy="370484"/>
          </a:xfrm>
          <a:custGeom>
            <a:avLst/>
            <a:gdLst/>
            <a:ahLst/>
            <a:cxnLst/>
            <a:rect r="r" b="b" t="t" l="l"/>
            <a:pathLst>
              <a:path h="370484" w="1862933">
                <a:moveTo>
                  <a:pt x="0" y="0"/>
                </a:moveTo>
                <a:lnTo>
                  <a:pt x="1862933" y="0"/>
                </a:lnTo>
                <a:lnTo>
                  <a:pt x="1862933" y="370484"/>
                </a:lnTo>
                <a:lnTo>
                  <a:pt x="0" y="370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170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5310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7" y="0"/>
                </a:lnTo>
                <a:lnTo>
                  <a:pt x="4208077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10481587">
            <a:off x="12534618" y="2658288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13148541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205992">
            <a:off x="-705358" y="2878165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61601" y="3397529"/>
            <a:ext cx="9899834" cy="3491941"/>
          </a:xfrm>
          <a:custGeom>
            <a:avLst/>
            <a:gdLst/>
            <a:ahLst/>
            <a:cxnLst/>
            <a:rect r="r" b="b" t="t" l="l"/>
            <a:pathLst>
              <a:path h="3491941" w="9899834">
                <a:moveTo>
                  <a:pt x="0" y="0"/>
                </a:moveTo>
                <a:lnTo>
                  <a:pt x="9899834" y="0"/>
                </a:lnTo>
                <a:lnTo>
                  <a:pt x="9899834" y="3491942"/>
                </a:lnTo>
                <a:lnTo>
                  <a:pt x="0" y="34919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82960" y="3458639"/>
            <a:ext cx="9457115" cy="326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8"/>
              </a:lnSpc>
            </a:pPr>
            <a:r>
              <a:rPr lang="en-US" sz="349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two models used:</a:t>
            </a:r>
          </a:p>
          <a:p>
            <a:pPr algn="ctr">
              <a:lnSpc>
                <a:spcPts val="4207"/>
              </a:lnSpc>
            </a:pPr>
          </a:p>
          <a:p>
            <a:pPr algn="l" marL="648911" indent="-324456" lvl="1">
              <a:lnSpc>
                <a:spcPts val="4207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Prophet (used for predicting temperature and humidity up to 7 days ahead)</a:t>
            </a:r>
          </a:p>
          <a:p>
            <a:pPr algn="l" marL="648911" indent="-324456" lvl="1">
              <a:lnSpc>
                <a:spcPts val="4207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Classifier( used to classify if a future day will have dangerous air quality levels)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9338" y="789639"/>
            <a:ext cx="6844526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PREDICTIONS</a:t>
            </a:r>
          </a:p>
        </p:txBody>
      </p:sp>
      <p:sp>
        <p:nvSpPr>
          <p:cNvPr name="AutoShape 7" id="7"/>
          <p:cNvSpPr/>
          <p:nvPr/>
        </p:nvSpPr>
        <p:spPr>
          <a:xfrm>
            <a:off x="1477671" y="1672288"/>
            <a:ext cx="4543621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21347" y="-1809785"/>
            <a:ext cx="4710516" cy="2577937"/>
          </a:xfrm>
          <a:custGeom>
            <a:avLst/>
            <a:gdLst/>
            <a:ahLst/>
            <a:cxnLst/>
            <a:rect r="r" b="b" t="t" l="l"/>
            <a:pathLst>
              <a:path h="2577937" w="4710516">
                <a:moveTo>
                  <a:pt x="0" y="0"/>
                </a:moveTo>
                <a:lnTo>
                  <a:pt x="4710516" y="0"/>
                </a:lnTo>
                <a:lnTo>
                  <a:pt x="4710516" y="2577937"/>
                </a:lnTo>
                <a:lnTo>
                  <a:pt x="0" y="2577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3538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4885327">
            <a:off x="10951034" y="-2327276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6933" y="904875"/>
            <a:ext cx="4526655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</a:p>
        </p:txBody>
      </p:sp>
      <p:sp>
        <p:nvSpPr>
          <p:cNvPr name="AutoShape 4" id="4"/>
          <p:cNvSpPr/>
          <p:nvPr/>
        </p:nvSpPr>
        <p:spPr>
          <a:xfrm>
            <a:off x="1464148" y="1787524"/>
            <a:ext cx="2850305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28584" y="5023338"/>
            <a:ext cx="7315200" cy="2580271"/>
          </a:xfrm>
          <a:custGeom>
            <a:avLst/>
            <a:gdLst/>
            <a:ahLst/>
            <a:cxnLst/>
            <a:rect r="r" b="b" t="t" l="l"/>
            <a:pathLst>
              <a:path h="2580271" w="7315200">
                <a:moveTo>
                  <a:pt x="0" y="0"/>
                </a:moveTo>
                <a:lnTo>
                  <a:pt x="7315200" y="0"/>
                </a:lnTo>
                <a:lnTo>
                  <a:pt x="7315200" y="2580270"/>
                </a:lnTo>
                <a:lnTo>
                  <a:pt x="0" y="2580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4916" y="5144438"/>
            <a:ext cx="7022535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Data gathered and computed by the station to ensure its accuracy.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generation of predictions and sending data.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944100" y="5023338"/>
            <a:ext cx="7315200" cy="2580271"/>
          </a:xfrm>
          <a:custGeom>
            <a:avLst/>
            <a:gdLst/>
            <a:ahLst/>
            <a:cxnLst/>
            <a:rect r="r" b="b" t="t" l="l"/>
            <a:pathLst>
              <a:path h="2580271" w="7315200">
                <a:moveTo>
                  <a:pt x="0" y="0"/>
                </a:moveTo>
                <a:lnTo>
                  <a:pt x="7315200" y="0"/>
                </a:lnTo>
                <a:lnTo>
                  <a:pt x="7315200" y="2580270"/>
                </a:lnTo>
                <a:lnTo>
                  <a:pt x="0" y="2580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99810" y="4991550"/>
            <a:ext cx="7022535" cy="28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Testing the website and mobile application so there are no errors and data is available to see when used by the user.</a:t>
            </a:r>
          </a:p>
          <a:p>
            <a:pPr algn="ctr">
              <a:lnSpc>
                <a:spcPts val="44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448824" y="2729934"/>
            <a:ext cx="11459602" cy="119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To make sure the system is functioning properly, testing was conducted in two parts: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-10141208">
            <a:off x="-1544207" y="2846041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6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60" y="0"/>
                </a:lnTo>
                <a:lnTo>
                  <a:pt x="719716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79924" y="375958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59700">
            <a:off x="-1332632" y="-1061227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96416">
            <a:off x="13034566" y="-102780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3409" y="2280144"/>
            <a:ext cx="8026984" cy="3881915"/>
          </a:xfrm>
          <a:custGeom>
            <a:avLst/>
            <a:gdLst/>
            <a:ahLst/>
            <a:cxnLst/>
            <a:rect r="r" b="b" t="t" l="l"/>
            <a:pathLst>
              <a:path h="3881915" w="8026984">
                <a:moveTo>
                  <a:pt x="0" y="0"/>
                </a:moveTo>
                <a:lnTo>
                  <a:pt x="8026984" y="0"/>
                </a:lnTo>
                <a:lnTo>
                  <a:pt x="8026984" y="3881915"/>
                </a:lnTo>
                <a:lnTo>
                  <a:pt x="0" y="3881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64" t="0" r="-380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1832" y="904875"/>
            <a:ext cx="4924005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</p:txBody>
      </p:sp>
      <p:sp>
        <p:nvSpPr>
          <p:cNvPr name="AutoShape 6" id="6"/>
          <p:cNvSpPr/>
          <p:nvPr/>
        </p:nvSpPr>
        <p:spPr>
          <a:xfrm>
            <a:off x="1659411" y="1787524"/>
            <a:ext cx="3004981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59411" y="7301093"/>
            <a:ext cx="6354428" cy="2241380"/>
          </a:xfrm>
          <a:custGeom>
            <a:avLst/>
            <a:gdLst/>
            <a:ahLst/>
            <a:cxnLst/>
            <a:rect r="r" b="b" t="t" l="l"/>
            <a:pathLst>
              <a:path h="2241380" w="6354428">
                <a:moveTo>
                  <a:pt x="0" y="0"/>
                </a:moveTo>
                <a:lnTo>
                  <a:pt x="6354428" y="0"/>
                </a:lnTo>
                <a:lnTo>
                  <a:pt x="6354428" y="2241380"/>
                </a:lnTo>
                <a:lnTo>
                  <a:pt x="0" y="2241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37135" y="2702318"/>
            <a:ext cx="6351001" cy="2240171"/>
          </a:xfrm>
          <a:custGeom>
            <a:avLst/>
            <a:gdLst/>
            <a:ahLst/>
            <a:cxnLst/>
            <a:rect r="r" b="b" t="t" l="l"/>
            <a:pathLst>
              <a:path h="2240171" w="6351001">
                <a:moveTo>
                  <a:pt x="0" y="0"/>
                </a:moveTo>
                <a:lnTo>
                  <a:pt x="6351001" y="0"/>
                </a:lnTo>
                <a:lnTo>
                  <a:pt x="6351001" y="2240172"/>
                </a:lnTo>
                <a:lnTo>
                  <a:pt x="0" y="2240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7992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80794" y="6635629"/>
            <a:ext cx="9279595" cy="3179651"/>
          </a:xfrm>
          <a:custGeom>
            <a:avLst/>
            <a:gdLst/>
            <a:ahLst/>
            <a:cxnLst/>
            <a:rect r="r" b="b" t="t" l="l"/>
            <a:pathLst>
              <a:path h="3179651" w="9279595">
                <a:moveTo>
                  <a:pt x="0" y="0"/>
                </a:moveTo>
                <a:lnTo>
                  <a:pt x="9279595" y="0"/>
                </a:lnTo>
                <a:lnTo>
                  <a:pt x="9279595" y="3179652"/>
                </a:lnTo>
                <a:lnTo>
                  <a:pt x="0" y="317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10" t="0" r="-271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1644" y="7620413"/>
            <a:ext cx="6073312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Comparison between values at the beggining and end of a session (June 13th)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37135" y="3021034"/>
            <a:ext cx="6183687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comparison between two different days  (25th May before and 13th June after sensor calibration)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73204">
            <a:off x="-560009" y="5097687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60" y="8229600"/>
                </a:lnTo>
                <a:lnTo>
                  <a:pt x="7197160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96416">
            <a:off x="13034566" y="-102780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0708" y="515938"/>
            <a:ext cx="4924005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315411" y="1398587"/>
            <a:ext cx="3071605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166451" y="375587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2654106"/>
            <a:ext cx="8945002" cy="5746003"/>
          </a:xfrm>
          <a:custGeom>
            <a:avLst/>
            <a:gdLst/>
            <a:ahLst/>
            <a:cxnLst/>
            <a:rect r="r" b="b" t="t" l="l"/>
            <a:pathLst>
              <a:path h="5746003" w="8945002">
                <a:moveTo>
                  <a:pt x="0" y="0"/>
                </a:moveTo>
                <a:lnTo>
                  <a:pt x="8945002" y="0"/>
                </a:lnTo>
                <a:lnTo>
                  <a:pt x="8945002" y="5746003"/>
                </a:lnTo>
                <a:lnTo>
                  <a:pt x="0" y="5746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89" t="0" r="-138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654106"/>
            <a:ext cx="9230527" cy="5746003"/>
          </a:xfrm>
          <a:custGeom>
            <a:avLst/>
            <a:gdLst/>
            <a:ahLst/>
            <a:cxnLst/>
            <a:rect r="r" b="b" t="t" l="l"/>
            <a:pathLst>
              <a:path h="5746003" w="9230527">
                <a:moveTo>
                  <a:pt x="0" y="0"/>
                </a:moveTo>
                <a:lnTo>
                  <a:pt x="9230527" y="0"/>
                </a:lnTo>
                <a:lnTo>
                  <a:pt x="9230527" y="5746003"/>
                </a:lnTo>
                <a:lnTo>
                  <a:pt x="0" y="5746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82392" y="8676547"/>
            <a:ext cx="5723217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Chart data present on the pictures above is from June 13th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73204">
            <a:off x="-560009" y="5097687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60" y="8229600"/>
                </a:lnTo>
                <a:lnTo>
                  <a:pt x="7197160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96416">
            <a:off x="13034566" y="-102780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59" y="0"/>
                </a:lnTo>
                <a:lnTo>
                  <a:pt x="7197159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8598" y="2139523"/>
            <a:ext cx="13658483" cy="6897534"/>
          </a:xfrm>
          <a:custGeom>
            <a:avLst/>
            <a:gdLst/>
            <a:ahLst/>
            <a:cxnLst/>
            <a:rect r="r" b="b" t="t" l="l"/>
            <a:pathLst>
              <a:path h="6897534" w="13658483">
                <a:moveTo>
                  <a:pt x="0" y="0"/>
                </a:moveTo>
                <a:lnTo>
                  <a:pt x="13658483" y="0"/>
                </a:lnTo>
                <a:lnTo>
                  <a:pt x="13658483" y="6897534"/>
                </a:lnTo>
                <a:lnTo>
                  <a:pt x="0" y="6897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4858" y="904875"/>
            <a:ext cx="4924005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63716" y="9182100"/>
            <a:ext cx="4924005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predictions in the picture were generated on 23.06.2026</a:t>
            </a:r>
          </a:p>
        </p:txBody>
      </p:sp>
      <p:sp>
        <p:nvSpPr>
          <p:cNvPr name="AutoShape 7" id="7"/>
          <p:cNvSpPr/>
          <p:nvPr/>
        </p:nvSpPr>
        <p:spPr>
          <a:xfrm>
            <a:off x="1359560" y="1787524"/>
            <a:ext cx="3071605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07992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7493" y="769714"/>
            <a:ext cx="12213015" cy="8747572"/>
          </a:xfrm>
          <a:custGeom>
            <a:avLst/>
            <a:gdLst/>
            <a:ahLst/>
            <a:cxnLst/>
            <a:rect r="r" b="b" t="t" l="l"/>
            <a:pathLst>
              <a:path h="8747572" w="12213015">
                <a:moveTo>
                  <a:pt x="0" y="0"/>
                </a:moveTo>
                <a:lnTo>
                  <a:pt x="12213014" y="0"/>
                </a:lnTo>
                <a:lnTo>
                  <a:pt x="12213014" y="8747572"/>
                </a:lnTo>
                <a:lnTo>
                  <a:pt x="0" y="8747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56523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7" y="0"/>
                </a:lnTo>
                <a:lnTo>
                  <a:pt x="4208077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13148541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1566282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6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60" y="0"/>
                </a:lnTo>
                <a:lnTo>
                  <a:pt x="719716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18520" y="3188501"/>
            <a:ext cx="13098836" cy="495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This project presents an IoT-based  smart indoor air quality monitoring product which integrates multiple  sensors with a Raspberry Pi 4, cloud storage, web and mobile applications, and 2 machine learning prediction models. By combining all of these, the system offers a solution for improving indoor environmental awareness.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91832" y="904875"/>
            <a:ext cx="5520029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</a:p>
        </p:txBody>
      </p:sp>
      <p:sp>
        <p:nvSpPr>
          <p:cNvPr name="AutoShape 6" id="6"/>
          <p:cNvSpPr/>
          <p:nvPr/>
        </p:nvSpPr>
        <p:spPr>
          <a:xfrm>
            <a:off x="1308017" y="1787524"/>
            <a:ext cx="4153295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79924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13148541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1566282" y="213964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719716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7197160" y="0"/>
                </a:lnTo>
                <a:lnTo>
                  <a:pt x="719716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18520" y="2862076"/>
            <a:ext cx="12414512" cy="463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adding new sensors</a:t>
            </a:r>
          </a:p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upgrading already existing sensors</a:t>
            </a:r>
          </a:p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cooling option for the Raspberry Pi</a:t>
            </a:r>
          </a:p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designing a protective case for the product</a:t>
            </a:r>
          </a:p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further training of AI models for more accurate predicitons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0507" y="904875"/>
            <a:ext cx="5431729" cy="8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1787524"/>
            <a:ext cx="5006561" cy="0"/>
          </a:xfrm>
          <a:prstGeom prst="line">
            <a:avLst/>
          </a:prstGeom>
          <a:ln cap="flat" w="38100">
            <a:solidFill>
              <a:srgbClr val="0331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213309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6" y="0"/>
                </a:lnTo>
                <a:lnTo>
                  <a:pt x="4208076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438831" y="-14523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1557" y="3995597"/>
            <a:ext cx="16517743" cy="202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59"/>
              </a:lnSpc>
            </a:pPr>
            <a:r>
              <a:rPr lang="en-US" sz="11613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-10800000">
            <a:off x="12078963" y="2178564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79533" y="385112"/>
            <a:ext cx="4208076" cy="1287176"/>
          </a:xfrm>
          <a:custGeom>
            <a:avLst/>
            <a:gdLst/>
            <a:ahLst/>
            <a:cxnLst/>
            <a:rect r="r" b="b" t="t" l="l"/>
            <a:pathLst>
              <a:path h="1287176" w="4208076">
                <a:moveTo>
                  <a:pt x="0" y="0"/>
                </a:moveTo>
                <a:lnTo>
                  <a:pt x="4208077" y="0"/>
                </a:lnTo>
                <a:lnTo>
                  <a:pt x="4208077" y="1287176"/>
                </a:lnTo>
                <a:lnTo>
                  <a:pt x="0" y="128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DAHM_y7BOmY</dc:identifier>
  <dcterms:modified xsi:type="dcterms:W3CDTF">2011-08-01T06:04:30Z</dcterms:modified>
  <cp:revision>1</cp:revision>
  <dc:title>MateiTudor_thesis_presentation</dc:title>
</cp:coreProperties>
</file>